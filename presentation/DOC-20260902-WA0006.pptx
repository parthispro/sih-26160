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6858000" cy="9144000"/>
  <p:embeddedFontLst>
    <p:embeddedFont>
      <p:font typeface="Inter SemiBold"/>
      <p:regular r:id="rId12"/>
      <p:bold r:id="rId13"/>
      <p:italic r:id="rId14"/>
      <p:boldItalic r:id="rId15"/>
    </p:embeddedFont>
    <p:embeddedFont>
      <p:font typeface="Montserrat"/>
      <p:bold r:id="rId16"/>
      <p:boldItalic r:id="rId17"/>
    </p:embeddedFont>
    <p:embeddedFont>
      <p:font typeface="Inter"/>
      <p:bold r:id="rId18"/>
      <p:boldItalic r:id="rId19"/>
    </p:embeddedFont>
    <p:embeddedFont>
      <p:font typeface="Inter ExtraBold"/>
      <p:bold r:id="rId20"/>
      <p:boldItalic r:id="rId21"/>
    </p:embeddedFont>
    <p:embeddedFont>
      <p:font typeface="Montserrat ExtraBold"/>
      <p:bold r:id="rId22"/>
      <p:boldItalic r:id="rId23"/>
    </p:embeddedFont>
    <p:embeddedFont>
      <p:font typeface="Oswald"/>
      <p:regular r:id="rId24"/>
      <p:bold r:id="rId25"/>
    </p:embeddedFont>
    <p:embeddedFont>
      <p:font typeface="Inter Medium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ExtraBold-bold.fntdata"/><Relationship Id="rId22" Type="http://schemas.openxmlformats.org/officeDocument/2006/relationships/font" Target="fonts/MontserratExtraBold-bold.fntdata"/><Relationship Id="rId21" Type="http://schemas.openxmlformats.org/officeDocument/2006/relationships/font" Target="fonts/InterExtraBold-boldItalic.fntdata"/><Relationship Id="rId24" Type="http://schemas.openxmlformats.org/officeDocument/2006/relationships/font" Target="fonts/Oswald-regular.fntdata"/><Relationship Id="rId23" Type="http://schemas.openxmlformats.org/officeDocument/2006/relationships/font" Target="fonts/MontserratExtraBold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Medium-regular.fntdata"/><Relationship Id="rId25" Type="http://schemas.openxmlformats.org/officeDocument/2006/relationships/font" Target="fonts/Oswald-bold.fntdata"/><Relationship Id="rId28" Type="http://schemas.openxmlformats.org/officeDocument/2006/relationships/font" Target="fonts/InterMedium-italic.fntdata"/><Relationship Id="rId27" Type="http://schemas.openxmlformats.org/officeDocument/2006/relationships/font" Target="fonts/InterMedium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Medium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InterSemiBold-bold.fntdata"/><Relationship Id="rId12" Type="http://schemas.openxmlformats.org/officeDocument/2006/relationships/font" Target="fonts/InterSemiBold-regular.fntdata"/><Relationship Id="rId15" Type="http://schemas.openxmlformats.org/officeDocument/2006/relationships/font" Target="fonts/InterSemiBold-boldItalic.fntdata"/><Relationship Id="rId14" Type="http://schemas.openxmlformats.org/officeDocument/2006/relationships/font" Target="fonts/InterSemiBold-italic.fntdata"/><Relationship Id="rId17" Type="http://schemas.openxmlformats.org/officeDocument/2006/relationships/font" Target="fonts/Montserrat-boldItalic.fntdata"/><Relationship Id="rId16" Type="http://schemas.openxmlformats.org/officeDocument/2006/relationships/font" Target="fonts/Montserrat-bold.fntdata"/><Relationship Id="rId19" Type="http://schemas.openxmlformats.org/officeDocument/2006/relationships/font" Target="fonts/Inter-boldItalic.fntdata"/><Relationship Id="rId18" Type="http://schemas.openxmlformats.org/officeDocument/2006/relationships/font" Target="fonts/Inter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9c1a2295a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g3f9c1a2295a_0_8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f9c1a2295a_0_4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08" name="Google Shape;108;g3f9c1a2295a_0_4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g3f9c1a2295a_0_42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1" name="Google Shape;12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38" name="Google Shape;13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55" name="Google Shape;15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3580606" y="-1875631"/>
            <a:ext cx="5030788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7285038" y="1828804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1697038" y="-812796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/>
          <p:nvPr/>
        </p:nvSpPr>
        <p:spPr>
          <a:xfrm>
            <a:off x="152400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7195325" y="1165750"/>
            <a:ext cx="4514908" cy="4587921"/>
          </a:xfrm>
          <a:custGeom>
            <a:rect b="b" l="l" r="r" t="t"/>
            <a:pathLst>
              <a:path extrusionOk="0" h="5154967" w="6184806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0" name="Google Shape;90;p13"/>
          <p:cNvPicPr preferRelativeResize="0"/>
          <p:nvPr/>
        </p:nvPicPr>
        <p:blipFill rotWithShape="1">
          <a:blip r:embed="rId4">
            <a:alphaModFix/>
          </a:blip>
          <a:srcRect b="0" l="3244" r="60465" t="0"/>
          <a:stretch/>
        </p:blipFill>
        <p:spPr>
          <a:xfrm>
            <a:off x="8767925" y="2057125"/>
            <a:ext cx="2610300" cy="30837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/>
        </p:nvSpPr>
        <p:spPr>
          <a:xfrm>
            <a:off x="495100" y="571500"/>
            <a:ext cx="8839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3B82F6"/>
                </a:solidFill>
                <a:latin typeface="Montserrat"/>
                <a:ea typeface="Montserrat"/>
                <a:cs typeface="Montserrat"/>
                <a:sym typeface="Montserrat"/>
              </a:rPr>
              <a:t>Smart India Hackathon 2026</a:t>
            </a:r>
            <a:endParaRPr sz="21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900">
                <a:solidFill>
                  <a:srgbClr val="0F172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PROJECT PROPOSAL</a:t>
            </a:r>
            <a:endParaRPr b="0" sz="3900">
              <a:solidFill>
                <a:srgbClr val="0F172A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311725" y="1905000"/>
            <a:ext cx="7308300" cy="438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Problem Statement Title</a:t>
            </a:r>
            <a:endParaRPr sz="22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0" lang="en-US" sz="2600">
                <a:solidFill>
                  <a:srgbClr val="1E293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AI-Powered IPsec VPN Protocol Analyzer and Security Assessment Framework</a:t>
            </a:r>
            <a:endParaRPr b="0" sz="2600">
              <a:solidFill>
                <a:srgbClr val="1E293B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Problem </a:t>
            </a:r>
            <a:r>
              <a:rPr b="0" lang="en-US" sz="1900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ID: </a:t>
            </a:r>
            <a:r>
              <a:rPr b="1" lang="en-US" sz="19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26160     </a:t>
            </a:r>
            <a:r>
              <a:rPr b="0" lang="en-US" sz="1900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Category: </a:t>
            </a:r>
            <a:r>
              <a:rPr b="1" lang="en-US" sz="19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Software</a:t>
            </a:r>
            <a:endParaRPr sz="22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Theme:</a:t>
            </a:r>
            <a:r>
              <a:rPr lang="en-US" sz="2200"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n-US" sz="21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Blockchain &amp; Cybersecurity</a:t>
            </a:r>
            <a:endParaRPr b="1" sz="210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Team ID</a:t>
            </a:r>
            <a:endParaRPr sz="22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i="1" lang="en-US" sz="2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[Insert Team ID]</a:t>
            </a:r>
            <a:endParaRPr b="1" i="1" sz="21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Team Name</a:t>
            </a:r>
            <a:endParaRPr sz="22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1" lang="en-US" sz="2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400-Squad</a:t>
            </a:r>
            <a:endParaRPr b="1" i="1" sz="21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93" name="Google Shape;93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780086" y="1500"/>
            <a:ext cx="2249851" cy="1062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/>
          <p:nvPr/>
        </p:nvSpPr>
        <p:spPr>
          <a:xfrm>
            <a:off x="0" y="6354762"/>
            <a:ext cx="12192000" cy="5031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182998" y="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IDEA TITLE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762000" y="1809750"/>
            <a:ext cx="10668000" cy="306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600">
                <a:solidFill>
                  <a:srgbClr val="1F497D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Proposed Solution: AI-Augmented IPsec Cryptographic Auditor</a:t>
            </a:r>
            <a:endParaRPr b="0" sz="2600">
              <a:solidFill>
                <a:srgbClr val="1F497D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An AI-powered command-line audit pipeline that combines deterministic PCAP packet dissection with an LLM verification and remediation engine.</a:t>
            </a:r>
            <a:endParaRPr b="0" sz="1600">
              <a:solidFill>
                <a:srgbClr val="475569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-323850" lvl="0" marL="457200" rtl="0" algn="l">
              <a:spcBef>
                <a:spcPts val="180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Inter"/>
              <a:buChar char="●"/>
            </a:pPr>
            <a:r>
              <a:rPr b="1" lang="en-US" sz="15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Postural Scoring:</a:t>
            </a:r>
            <a:r>
              <a:rPr lang="en-US" sz="15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Ingests IKEv2/IPsec capture files and programmatically scores cryptographic posture against NIST SP 800-77 Rev.1 standards.</a:t>
            </a:r>
            <a:endParaRPr sz="15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rtl="0" algn="l">
              <a:spcBef>
                <a:spcPts val="90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Inter"/>
              <a:buChar char="●"/>
            </a:pPr>
            <a:r>
              <a:rPr b="1" lang="en-US" sz="15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LLM Verification:</a:t>
            </a:r>
            <a:r>
              <a:rPr lang="en-US" sz="15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Queries an LLM API (via user API key) to verify findings and explain attack surfaces in plain language.</a:t>
            </a:r>
            <a:endParaRPr sz="15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rtl="0" algn="l">
              <a:spcBef>
                <a:spcPts val="90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Inter"/>
              <a:buChar char="●"/>
            </a:pPr>
            <a:r>
              <a:rPr b="1" lang="en-US" sz="15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Automated Remediation:</a:t>
            </a:r>
            <a:r>
              <a:rPr lang="en-US" sz="15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Synthesizes multi-vendor remediation scripts to fix gaps quickly and securely.</a:t>
            </a:r>
            <a:endParaRPr sz="15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2" name="Google Shape;102;p14"/>
          <p:cNvSpPr txBox="1"/>
          <p:nvPr>
            <p:ph idx="12" type="sldNum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03" name="Google Shape;103;p14"/>
          <p:cNvSpPr txBox="1"/>
          <p:nvPr>
            <p:ph idx="11" type="ftr"/>
          </p:nvPr>
        </p:nvSpPr>
        <p:spPr>
          <a:xfrm>
            <a:off x="4648200" y="6356353"/>
            <a:ext cx="3204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@SIH Idea submission- Template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descr="Your startup LOGO" id="104" name="Google Shape;104;p14"/>
          <p:cNvSpPr/>
          <p:nvPr/>
        </p:nvSpPr>
        <p:spPr>
          <a:xfrm>
            <a:off x="119226" y="186312"/>
            <a:ext cx="2124600" cy="692700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400-SQUAD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5" name="Google Shape;10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0086" y="1500"/>
            <a:ext cx="2249851" cy="1062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5"/>
          <p:cNvSpPr/>
          <p:nvPr/>
        </p:nvSpPr>
        <p:spPr>
          <a:xfrm>
            <a:off x="0" y="6354762"/>
            <a:ext cx="12192000" cy="5031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TECHNICAL APPROACH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762000" y="1714500"/>
            <a:ext cx="10668000" cy="221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>
                <a:solidFill>
                  <a:srgbClr val="1F497D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1. Technologies to be Used</a:t>
            </a:r>
            <a:endParaRPr b="0" sz="2200">
              <a:solidFill>
                <a:srgbClr val="1F497D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Programming Language &amp; Core Runtime:</a:t>
            </a:r>
            <a:r>
              <a:rPr lang="en-US" sz="15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Python 3 utilizing standard library modules (subprocess, argparse, json, re, pathlib) for zero-dependency execution across environments.</a:t>
            </a:r>
            <a:endParaRPr sz="15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2400"/>
              </a:spcBef>
              <a:spcAft>
                <a:spcPts val="0"/>
              </a:spcAft>
              <a:buNone/>
            </a:pPr>
            <a:r>
              <a:rPr b="0" lang="en-US" sz="2200">
                <a:solidFill>
                  <a:srgbClr val="1F497D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2. Methodology &amp; Process</a:t>
            </a:r>
            <a:endParaRPr b="0" sz="2200">
              <a:solidFill>
                <a:srgbClr val="1F497D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Implementation &amp; Flow:</a:t>
            </a:r>
            <a:r>
              <a:rPr lang="en-US" sz="15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Structured process for implementation including detailed flow charts, architectural images, and a working prototype.</a:t>
            </a:r>
            <a:endParaRPr sz="15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4" name="Google Shape;114;p15"/>
          <p:cNvSpPr txBox="1"/>
          <p:nvPr>
            <p:ph idx="12" type="sldNum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15" name="Google Shape;115;p15"/>
          <p:cNvSpPr txBox="1"/>
          <p:nvPr>
            <p:ph idx="11" type="ftr"/>
          </p:nvPr>
        </p:nvSpPr>
        <p:spPr>
          <a:xfrm>
            <a:off x="4648200" y="6356353"/>
            <a:ext cx="3204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@SIH Idea submission- Template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16" name="Google Shape;11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0086" y="1500"/>
            <a:ext cx="2249851" cy="106233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1962100" y="4023075"/>
            <a:ext cx="79734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        [PCAP/PCAPNG] ──&gt; [1. ike_parser.py: Extract to JSON] ──&gt; [2. scorer.py: NIST Grading]</a:t>
            </a:r>
            <a:endParaRPr sz="17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                                                                                                                                              │</a:t>
            </a:r>
            <a:endParaRPr sz="17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[4. analyze.py: CLI Dashboard &amp; Target Configs] &lt;──  [3. AI Engine: Verify &amp; Translate] &lt;──┘</a:t>
            </a:r>
            <a:endParaRPr sz="17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descr="Your startup LOGO" id="118" name="Google Shape;118;p15"/>
          <p:cNvSpPr/>
          <p:nvPr/>
        </p:nvSpPr>
        <p:spPr>
          <a:xfrm>
            <a:off x="119226" y="186312"/>
            <a:ext cx="2124600" cy="692700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400-SQUAD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6"/>
          <p:cNvSpPr/>
          <p:nvPr/>
        </p:nvSpPr>
        <p:spPr>
          <a:xfrm>
            <a:off x="0" y="6354762"/>
            <a:ext cx="12192000" cy="5031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6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FEASIBILITY AND VIABILITY</a:t>
            </a:r>
            <a:endParaRPr/>
          </a:p>
        </p:txBody>
      </p:sp>
      <p:grpSp>
        <p:nvGrpSpPr>
          <p:cNvPr id="126" name="Google Shape;126;p16"/>
          <p:cNvGrpSpPr/>
          <p:nvPr/>
        </p:nvGrpSpPr>
        <p:grpSpPr>
          <a:xfrm>
            <a:off x="182400" y="1712550"/>
            <a:ext cx="4865921" cy="4025017"/>
            <a:chOff x="0" y="0"/>
            <a:chExt cx="4286400" cy="3333900"/>
          </a:xfrm>
        </p:grpSpPr>
        <p:sp>
          <p:nvSpPr>
            <p:cNvPr id="127" name="Google Shape;127;p16"/>
            <p:cNvSpPr/>
            <p:nvPr/>
          </p:nvSpPr>
          <p:spPr>
            <a:xfrm>
              <a:off x="0" y="0"/>
              <a:ext cx="4286400" cy="3333900"/>
            </a:xfrm>
            <a:prstGeom prst="roundRect">
              <a:avLst>
                <a:gd fmla="val 3428" name="adj"/>
              </a:avLst>
            </a:prstGeom>
            <a:solidFill>
              <a:srgbClr val="F8FAFC"/>
            </a:solidFill>
            <a:ln cap="flat" cmpd="sng" w="230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6"/>
            <p:cNvSpPr txBox="1"/>
            <p:nvPr/>
          </p:nvSpPr>
          <p:spPr>
            <a:xfrm>
              <a:off x="285750" y="285750"/>
              <a:ext cx="3714900" cy="276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90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1358"/>
                </a:spcBef>
                <a:spcAft>
                  <a:spcPts val="0"/>
                </a:spcAft>
                <a:buNone/>
              </a:pPr>
              <a:r>
                <a:rPr b="0" lang="en-US" sz="3139" u="sng">
                  <a:solidFill>
                    <a:srgbClr val="1F497D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Highly Feasible</a:t>
              </a:r>
              <a:endParaRPr b="0" sz="3139" u="sng">
                <a:solidFill>
                  <a:srgbClr val="1F497D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358"/>
                </a:spcBef>
                <a:spcAft>
                  <a:spcPts val="0"/>
                </a:spcAft>
                <a:buNone/>
              </a:pPr>
              <a:r>
                <a:rPr lang="en-US" sz="2173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Th</a:t>
              </a:r>
              <a:r>
                <a:rPr b="0" lang="en-US" sz="2173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e proposed AI-Augmented IPsec Cryptographic Auditor is highly feasible for immediate implementation, built upon a proven working architecture.</a:t>
              </a:r>
              <a:endParaRPr b="0" sz="2173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29" name="Google Shape;129;p16"/>
          <p:cNvGrpSpPr/>
          <p:nvPr/>
        </p:nvGrpSpPr>
        <p:grpSpPr>
          <a:xfrm>
            <a:off x="5048400" y="1696775"/>
            <a:ext cx="7341298" cy="4025036"/>
            <a:chOff x="-9525" y="-9525"/>
            <a:chExt cx="6115200" cy="3352800"/>
          </a:xfrm>
        </p:grpSpPr>
        <p:pic>
          <p:nvPicPr>
            <p:cNvPr id="130" name="Google Shape;130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-9525" y="-9525"/>
              <a:ext cx="6115200" cy="3352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" name="Google Shape;131;p16"/>
            <p:cNvSpPr txBox="1"/>
            <p:nvPr/>
          </p:nvSpPr>
          <p:spPr>
            <a:xfrm>
              <a:off x="333375" y="285750"/>
              <a:ext cx="5429400" cy="276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521">
                  <a:solidFill>
                    <a:srgbClr val="1F497D"/>
                  </a:solidFill>
                  <a:latin typeface="Inter"/>
                  <a:ea typeface="Inter"/>
                  <a:cs typeface="Inter"/>
                  <a:sym typeface="Inter"/>
                </a:rPr>
                <a:t>Working Prototype Validation</a:t>
              </a:r>
              <a:endParaRPr b="1" sz="2521">
                <a:solidFill>
                  <a:srgbClr val="1F497D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2041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The most complex component</a:t>
              </a:r>
              <a:r>
                <a:rPr lang="en-US" sz="2041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0" lang="en-US" sz="2041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extracting encrypted network parameters from raw traffic</a:t>
              </a:r>
              <a:r>
                <a:rPr lang="en-US" sz="2041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0" lang="en-US" sz="2041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is already solved by your working prototype:</a:t>
              </a:r>
              <a:endParaRPr b="0" sz="204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81155" lvl="0" marL="548862" rtl="0" algn="l">
                <a:spcBef>
                  <a:spcPts val="1351"/>
                </a:spcBef>
                <a:spcAft>
                  <a:spcPts val="0"/>
                </a:spcAft>
                <a:buClr>
                  <a:srgbClr val="0F172A"/>
                </a:buClr>
                <a:buSzPts val="1681"/>
                <a:buFont typeface="Inter"/>
                <a:buChar char="●"/>
              </a:pPr>
              <a:r>
                <a:rPr b="1" lang="en-US" sz="1681">
                  <a:solidFill>
                    <a:srgbClr val="1F497D"/>
                  </a:solidFill>
                  <a:latin typeface="Inter"/>
                  <a:ea typeface="Inter"/>
                  <a:cs typeface="Inter"/>
                  <a:sym typeface="Inter"/>
                </a:rPr>
                <a:t>i</a:t>
              </a:r>
              <a:r>
                <a:rPr b="1" lang="en-US" sz="1801">
                  <a:solidFill>
                    <a:srgbClr val="1F497D"/>
                  </a:solidFill>
                  <a:latin typeface="Inter"/>
                  <a:ea typeface="Inter"/>
                  <a:cs typeface="Inter"/>
                  <a:sym typeface="Inter"/>
                </a:rPr>
                <a:t>ke_parser.py:</a:t>
              </a:r>
              <a:r>
                <a:rPr lang="en-US" sz="1801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 Successfully utilizes </a:t>
              </a:r>
              <a:r>
                <a:rPr b="0" lang="en-US" sz="1801">
                  <a:solidFill>
                    <a:srgbClr val="0070C0"/>
                  </a:solidFill>
                  <a:latin typeface="Arial"/>
                  <a:ea typeface="Arial"/>
                  <a:cs typeface="Arial"/>
                  <a:sym typeface="Arial"/>
                </a:rPr>
                <a:t>tshark</a:t>
              </a:r>
              <a:r>
                <a:rPr lang="en-US" sz="1801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 to deterministically parse IKE_SA_INIT and CREATE_CHILD_SA payloads.</a:t>
              </a:r>
              <a:endParaRPr sz="180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88778" lvl="0" marL="548862" rtl="0" algn="l">
                <a:spcBef>
                  <a:spcPts val="1080"/>
                </a:spcBef>
                <a:spcAft>
                  <a:spcPts val="0"/>
                </a:spcAft>
                <a:buClr>
                  <a:srgbClr val="0F172A"/>
                </a:buClr>
                <a:buSzPts val="1801"/>
                <a:buFont typeface="Inter"/>
                <a:buChar char="●"/>
              </a:pPr>
              <a:r>
                <a:rPr b="1" lang="en-US" sz="1801">
                  <a:solidFill>
                    <a:srgbClr val="1F497D"/>
                  </a:solidFill>
                  <a:latin typeface="Inter"/>
                  <a:ea typeface="Inter"/>
                  <a:cs typeface="Inter"/>
                  <a:sym typeface="Inter"/>
                </a:rPr>
                <a:t>scorer.py:</a:t>
              </a:r>
              <a:r>
                <a:rPr lang="en-US" sz="1801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 Reliably maps these findings to rigid NIST SP 800-77 Rev.1 compliance metrics.</a:t>
              </a:r>
              <a:endParaRPr sz="180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32" name="Google Shape;132;p16"/>
          <p:cNvSpPr txBox="1"/>
          <p:nvPr>
            <p:ph idx="12" type="sldNum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33" name="Google Shape;133;p16"/>
          <p:cNvSpPr txBox="1"/>
          <p:nvPr>
            <p:ph idx="11" type="ftr"/>
          </p:nvPr>
        </p:nvSpPr>
        <p:spPr>
          <a:xfrm>
            <a:off x="4648200" y="6356353"/>
            <a:ext cx="3204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b="0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80086" y="1500"/>
            <a:ext cx="2249851" cy="1062337"/>
          </a:xfrm>
          <a:prstGeom prst="rect">
            <a:avLst/>
          </a:prstGeom>
          <a:noFill/>
          <a:ln>
            <a:noFill/>
          </a:ln>
        </p:spPr>
      </p:pic>
      <p:sp>
        <p:nvSpPr>
          <p:cNvPr descr="Your startup LOGO" id="135" name="Google Shape;135;p16"/>
          <p:cNvSpPr/>
          <p:nvPr/>
        </p:nvSpPr>
        <p:spPr>
          <a:xfrm>
            <a:off x="119226" y="186324"/>
            <a:ext cx="2124600" cy="692700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400-SQUAD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7"/>
          <p:cNvSpPr/>
          <p:nvPr/>
        </p:nvSpPr>
        <p:spPr>
          <a:xfrm>
            <a:off x="0" y="6354762"/>
            <a:ext cx="12192000" cy="5031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7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IMPACT AND BENEFITS</a:t>
            </a:r>
            <a:endParaRPr/>
          </a:p>
        </p:txBody>
      </p:sp>
      <p:grpSp>
        <p:nvGrpSpPr>
          <p:cNvPr id="143" name="Google Shape;143;p17"/>
          <p:cNvGrpSpPr/>
          <p:nvPr/>
        </p:nvGrpSpPr>
        <p:grpSpPr>
          <a:xfrm>
            <a:off x="609600" y="1428750"/>
            <a:ext cx="5238900" cy="4476900"/>
            <a:chOff x="0" y="0"/>
            <a:chExt cx="5238900" cy="4476900"/>
          </a:xfrm>
        </p:grpSpPr>
        <p:sp>
          <p:nvSpPr>
            <p:cNvPr id="144" name="Google Shape;144;p17"/>
            <p:cNvSpPr/>
            <p:nvPr/>
          </p:nvSpPr>
          <p:spPr>
            <a:xfrm>
              <a:off x="0" y="0"/>
              <a:ext cx="5238900" cy="4476900"/>
            </a:xfrm>
            <a:prstGeom prst="roundRect">
              <a:avLst>
                <a:gd fmla="val 2553" name="adj"/>
              </a:avLst>
            </a:prstGeom>
            <a:solidFill>
              <a:srgbClr val="F8FAFC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17"/>
            <p:cNvSpPr txBox="1"/>
            <p:nvPr/>
          </p:nvSpPr>
          <p:spPr>
            <a:xfrm>
              <a:off x="0" y="0"/>
              <a:ext cx="5238900" cy="44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200">
                  <a:solidFill>
                    <a:srgbClr val="1F497D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Target Audience Impact</a:t>
              </a:r>
              <a:endParaRPr b="0" sz="2200">
                <a:solidFill>
                  <a:srgbClr val="1F497D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SecOps &amp; Network Engineers:</a:t>
              </a:r>
              <a:r>
                <a:rPr lang="en-US" sz="1800"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-US" sz="15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Eliminates hours spent manually decoding hex transforms in Wireshark by automatically generating ready-to-deploy, hardened firewall configurations.</a:t>
              </a:r>
              <a:endParaRPr sz="1800"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Compliance &amp; Risk Auditors:</a:t>
              </a:r>
              <a:r>
                <a:rPr lang="en-US" sz="1800"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-US" sz="15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Replaces subjective assessments with automated, deterministic auditing benchmarked against NIST SP 800-77 Rev.1, streamlining HIPAA, PCI-DSS, and FIPS reviews.</a:t>
              </a:r>
              <a:endParaRPr sz="1800"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SysAdmins &amp; Generalists:</a:t>
              </a:r>
              <a:r>
                <a:rPr lang="en-US" sz="1800"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-US" sz="15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Bridges the cryptographic skill gap by translating complex mathematical risks (SWEET32, Logjam, Harvest-Now-Decrypt-Later) into plain-language actionable tasks.</a:t>
              </a:r>
              <a:endParaRPr sz="1800"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46" name="Google Shape;146;p17"/>
          <p:cNvSpPr txBox="1"/>
          <p:nvPr>
            <p:ph idx="12" type="sldNum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grpSp>
        <p:nvGrpSpPr>
          <p:cNvPr id="147" name="Google Shape;147;p17"/>
          <p:cNvGrpSpPr/>
          <p:nvPr/>
        </p:nvGrpSpPr>
        <p:grpSpPr>
          <a:xfrm>
            <a:off x="6343650" y="1428750"/>
            <a:ext cx="5238900" cy="4476900"/>
            <a:chOff x="0" y="0"/>
            <a:chExt cx="5238900" cy="4476900"/>
          </a:xfrm>
        </p:grpSpPr>
        <p:sp>
          <p:nvSpPr>
            <p:cNvPr id="148" name="Google Shape;148;p17"/>
            <p:cNvSpPr/>
            <p:nvPr/>
          </p:nvSpPr>
          <p:spPr>
            <a:xfrm>
              <a:off x="0" y="0"/>
              <a:ext cx="5238900" cy="4476900"/>
            </a:xfrm>
            <a:prstGeom prst="roundRect">
              <a:avLst>
                <a:gd fmla="val 2553" name="adj"/>
              </a:avLst>
            </a:prstGeom>
            <a:solidFill>
              <a:srgbClr val="F8FAFC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7"/>
            <p:cNvSpPr txBox="1"/>
            <p:nvPr/>
          </p:nvSpPr>
          <p:spPr>
            <a:xfrm>
              <a:off x="0" y="0"/>
              <a:ext cx="5238900" cy="44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200">
                  <a:solidFill>
                    <a:srgbClr val="1F497D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Benefits of the Solution</a:t>
              </a:r>
              <a:endParaRPr b="0" sz="2200">
                <a:solidFill>
                  <a:srgbClr val="1F497D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Economic Impact:</a:t>
              </a:r>
              <a:r>
                <a:rPr lang="en-US" sz="1800"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-US" sz="15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Drastically cuts labor costs and specialized consulting fees while shielding enterprises from multi-million dollar breaches, regulatory fines, and corporate espionage.</a:t>
              </a:r>
              <a:endParaRPr sz="1800"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Strategic &amp; Security Governance:</a:t>
              </a:r>
              <a:r>
                <a:rPr lang="en-US" sz="1800"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-US" sz="15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Enhances resilience against state-sponsored interception and future quantum threats with a clear migration path toward Post-Quantum Cryptography (PQC / ML-KEM) standards.</a:t>
              </a:r>
              <a:endParaRPr sz="1800"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Operational &amp; Resource Efficiency:</a:t>
              </a:r>
              <a:r>
                <a:rPr lang="en-US" sz="1800"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-US" sz="15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Lightweight, zero-dependency CLI tool that executes locally on low-compute resources, eliminating the need for power-hungry cloud security infrastructure.</a:t>
              </a:r>
              <a:endParaRPr sz="1800"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50" name="Google Shape;150;p17"/>
          <p:cNvSpPr txBox="1"/>
          <p:nvPr>
            <p:ph idx="11" type="ftr"/>
          </p:nvPr>
        </p:nvSpPr>
        <p:spPr>
          <a:xfrm>
            <a:off x="4648200" y="6356353"/>
            <a:ext cx="3204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b="0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51" name="Google Shape;15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0086" y="1500"/>
            <a:ext cx="2249851" cy="1062337"/>
          </a:xfrm>
          <a:prstGeom prst="rect">
            <a:avLst/>
          </a:prstGeom>
          <a:noFill/>
          <a:ln>
            <a:noFill/>
          </a:ln>
        </p:spPr>
      </p:pic>
      <p:sp>
        <p:nvSpPr>
          <p:cNvPr descr="Your startup LOGO" id="152" name="Google Shape;152;p17"/>
          <p:cNvSpPr/>
          <p:nvPr/>
        </p:nvSpPr>
        <p:spPr>
          <a:xfrm>
            <a:off x="239551" y="186324"/>
            <a:ext cx="2124600" cy="692700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400-SQUAD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8"/>
          <p:cNvSpPr/>
          <p:nvPr/>
        </p:nvSpPr>
        <p:spPr>
          <a:xfrm>
            <a:off x="0" y="6354762"/>
            <a:ext cx="12192000" cy="5031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8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RESEARCH  AND REFERENCES</a:t>
            </a:r>
            <a:endParaRPr/>
          </a:p>
        </p:txBody>
      </p:sp>
      <p:sp>
        <p:nvSpPr>
          <p:cNvPr id="160" name="Google Shape;160;p18"/>
          <p:cNvSpPr txBox="1"/>
          <p:nvPr>
            <p:ph idx="12" type="sldNum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61" name="Google Shape;161;p18"/>
          <p:cNvSpPr txBox="1"/>
          <p:nvPr>
            <p:ph idx="11" type="ftr"/>
          </p:nvPr>
        </p:nvSpPr>
        <p:spPr>
          <a:xfrm>
            <a:off x="4648200" y="6356353"/>
            <a:ext cx="3204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b="0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62" name="Google Shape;16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0086" y="1500"/>
            <a:ext cx="2249851" cy="106233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3" name="Google Shape;163;p18"/>
          <p:cNvGrpSpPr/>
          <p:nvPr/>
        </p:nvGrpSpPr>
        <p:grpSpPr>
          <a:xfrm>
            <a:off x="571500" y="1381125"/>
            <a:ext cx="3429000" cy="3367278"/>
            <a:chOff x="0" y="0"/>
            <a:chExt cx="3429000" cy="4572000"/>
          </a:xfrm>
        </p:grpSpPr>
        <p:sp>
          <p:nvSpPr>
            <p:cNvPr id="164" name="Google Shape;164;p18"/>
            <p:cNvSpPr/>
            <p:nvPr/>
          </p:nvSpPr>
          <p:spPr>
            <a:xfrm>
              <a:off x="0" y="0"/>
              <a:ext cx="3429000" cy="4572000"/>
            </a:xfrm>
            <a:prstGeom prst="roundRect">
              <a:avLst>
                <a:gd fmla="val 3333" name="adj"/>
              </a:avLst>
            </a:prstGeom>
            <a:solidFill>
              <a:srgbClr val="F8FAFC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18"/>
            <p:cNvSpPr txBox="1"/>
            <p:nvPr/>
          </p:nvSpPr>
          <p:spPr>
            <a:xfrm>
              <a:off x="0" y="0"/>
              <a:ext cx="3429000" cy="457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900">
                  <a:solidFill>
                    <a:srgbClr val="1F497D"/>
                  </a:solidFill>
                  <a:latin typeface="Inter"/>
                  <a:ea typeface="Inter"/>
                  <a:cs typeface="Inter"/>
                  <a:sym typeface="Inter"/>
                </a:rPr>
                <a:t>1. Educational Videos</a:t>
              </a:r>
              <a:endParaRPr b="1" sz="1900">
                <a:solidFill>
                  <a:srgbClr val="1F497D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PowerCert Animated Videos:</a:t>
              </a:r>
              <a:r>
                <a:rPr lang="en-US" sz="15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Highly visual explainers for networking and IT fundamentals. Great for understanding encapsulation inside IPsec tunnels.</a:t>
              </a:r>
              <a:endParaRPr sz="15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NetworkChuck:</a:t>
              </a:r>
              <a:r>
                <a:rPr lang="en-US" sz="15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High-energy, practical walkthroughs on VPNs, OSI model, and real-world deployment.</a:t>
              </a:r>
              <a:endParaRPr sz="15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66" name="Google Shape;166;p18"/>
          <p:cNvGrpSpPr/>
          <p:nvPr/>
        </p:nvGrpSpPr>
        <p:grpSpPr>
          <a:xfrm>
            <a:off x="4382198" y="1381125"/>
            <a:ext cx="3555185" cy="4471516"/>
            <a:chOff x="0" y="14"/>
            <a:chExt cx="3627000" cy="4774200"/>
          </a:xfrm>
        </p:grpSpPr>
        <p:sp>
          <p:nvSpPr>
            <p:cNvPr id="167" name="Google Shape;167;p18"/>
            <p:cNvSpPr/>
            <p:nvPr/>
          </p:nvSpPr>
          <p:spPr>
            <a:xfrm>
              <a:off x="0" y="15"/>
              <a:ext cx="3429000" cy="4721100"/>
            </a:xfrm>
            <a:prstGeom prst="roundRect">
              <a:avLst>
                <a:gd fmla="val 3333" name="adj"/>
              </a:avLst>
            </a:prstGeom>
            <a:solidFill>
              <a:srgbClr val="F8FAFC"/>
            </a:solidFill>
            <a:ln cap="flat" cmpd="sng" w="201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18"/>
            <p:cNvSpPr txBox="1"/>
            <p:nvPr/>
          </p:nvSpPr>
          <p:spPr>
            <a:xfrm>
              <a:off x="0" y="14"/>
              <a:ext cx="3627000" cy="477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00950" lIns="200950" spcFirstLastPara="1" rIns="200950" wrap="square" tIns="200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4">
                  <a:solidFill>
                    <a:srgbClr val="1F497D"/>
                  </a:solidFill>
                  <a:latin typeface="Inter"/>
                  <a:ea typeface="Inter"/>
                  <a:cs typeface="Inter"/>
                  <a:sym typeface="Inter"/>
                </a:rPr>
                <a:t>2. GitHub Projects &amp; Tools</a:t>
              </a:r>
              <a:endParaRPr b="1" sz="2004">
                <a:solidFill>
                  <a:srgbClr val="1F497D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87"/>
                </a:spcBef>
                <a:spcAft>
                  <a:spcPts val="0"/>
                </a:spcAft>
                <a:buNone/>
              </a:pPr>
              <a:r>
                <a:rPr b="1" lang="en-US" sz="1582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IKEv3Analytica:</a:t>
              </a:r>
              <a:r>
                <a:rPr lang="en-US" sz="1582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Modern, containerized Python framework for next-gen IPsec VPN analysis, risk scoring, and reporting.</a:t>
              </a:r>
              <a:endParaRPr sz="1582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49"/>
                </a:spcBef>
                <a:spcAft>
                  <a:spcPts val="0"/>
                </a:spcAft>
                <a:buNone/>
              </a:pPr>
              <a:r>
                <a:rPr b="1" lang="en-US" sz="1582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ikeforce (Legacy):</a:t>
              </a:r>
              <a:r>
                <a:rPr lang="en-US" sz="1582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Classic CLI tool for IKE phase 1/2 enumeration, valuable for historical context.</a:t>
              </a:r>
              <a:endParaRPr sz="1582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49"/>
                </a:spcBef>
                <a:spcAft>
                  <a:spcPts val="0"/>
                </a:spcAft>
                <a:buNone/>
              </a:pPr>
              <a:r>
                <a:rPr b="1" lang="en-US" sz="1582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hwdsl2 / setup-ipsec-vpn:</a:t>
              </a:r>
              <a:r>
                <a:rPr lang="en-US" sz="1582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Highly popular setup scripts to understand production strongSwan and Libreswan configurations.</a:t>
              </a:r>
              <a:endParaRPr sz="1582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69" name="Google Shape;169;p18"/>
          <p:cNvGrpSpPr/>
          <p:nvPr/>
        </p:nvGrpSpPr>
        <p:grpSpPr>
          <a:xfrm>
            <a:off x="8191500" y="1381125"/>
            <a:ext cx="3429050" cy="4191793"/>
            <a:chOff x="0" y="0"/>
            <a:chExt cx="3429050" cy="6274200"/>
          </a:xfrm>
        </p:grpSpPr>
        <p:sp>
          <p:nvSpPr>
            <p:cNvPr id="170" name="Google Shape;170;p18"/>
            <p:cNvSpPr/>
            <p:nvPr/>
          </p:nvSpPr>
          <p:spPr>
            <a:xfrm>
              <a:off x="0" y="0"/>
              <a:ext cx="3429000" cy="6274200"/>
            </a:xfrm>
            <a:prstGeom prst="roundRect">
              <a:avLst>
                <a:gd fmla="val 3333" name="adj"/>
              </a:avLst>
            </a:prstGeom>
            <a:solidFill>
              <a:srgbClr val="F8FAFC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18"/>
            <p:cNvSpPr txBox="1"/>
            <p:nvPr/>
          </p:nvSpPr>
          <p:spPr>
            <a:xfrm>
              <a:off x="50" y="0"/>
              <a:ext cx="3429000" cy="627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900">
                  <a:solidFill>
                    <a:srgbClr val="1F497D"/>
                  </a:solidFill>
                  <a:latin typeface="Inter"/>
                  <a:ea typeface="Inter"/>
                  <a:cs typeface="Inter"/>
                  <a:sym typeface="Inter"/>
                </a:rPr>
                <a:t>3. Standards &amp; Research</a:t>
              </a:r>
              <a:endParaRPr b="1" sz="1900">
                <a:solidFill>
                  <a:srgbClr val="1F497D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NIST SP 800-77 Rev. 1:</a:t>
              </a:r>
              <a:r>
                <a:rPr lang="en-US" sz="15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The definitive guidelines and compliance benchmarks for IPsec VPN security policies.</a:t>
              </a:r>
              <a:endParaRPr sz="15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RFC 7296 &amp; 8221:</a:t>
              </a:r>
              <a:r>
                <a:rPr lang="en-US" sz="15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Core specifications defining standard IKEv2 packets, cryptographic mandates, and algorithm lifecycles.</a:t>
              </a:r>
              <a:endParaRPr sz="15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NIST FIPS 203 (ML-KEM):</a:t>
              </a:r>
              <a:r>
                <a:rPr lang="en-US" sz="15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Newly finalized Post-Quantum Cryptography standards designed to prevent future quantum decrypt attacks.</a:t>
              </a:r>
              <a:endParaRPr sz="15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descr="Your startup LOGO" id="172" name="Google Shape;172;p18"/>
          <p:cNvSpPr/>
          <p:nvPr/>
        </p:nvSpPr>
        <p:spPr>
          <a:xfrm>
            <a:off x="209451" y="186324"/>
            <a:ext cx="2124600" cy="692700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400-SQUAD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